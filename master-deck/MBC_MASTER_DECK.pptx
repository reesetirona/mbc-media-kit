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1"/>
  </p:notesMasterIdLst>
  <p:sldIdLst>
    <p:sldId id="274" r:id="rId2"/>
    <p:sldId id="263" r:id="rId3"/>
    <p:sldId id="270" r:id="rId4"/>
    <p:sldId id="264" r:id="rId5"/>
    <p:sldId id="272" r:id="rId6"/>
    <p:sldId id="271" r:id="rId7"/>
    <p:sldId id="276" r:id="rId8"/>
    <p:sldId id="277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243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Line"/>
          <p:cNvSpPr/>
          <p:nvPr userDrawn="1"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3D3D5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3D3D5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3D3D5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3D3D5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3D3D5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508000" y="2184400"/>
            <a:ext cx="3810000" cy="19050"/>
          </a:xfrm>
          <a:prstGeom prst="rect">
            <a:avLst/>
          </a:prstGeom>
          <a:solidFill>
            <a:srgbClr val="E8E8EC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8000" y="2336800"/>
            <a:ext cx="63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1A5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{{TAGLINE}}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8000" y="38735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1A5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Prepared for: {{CLIENT_NAME}}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8000" y="46355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1A5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mbcmediagroup.com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42659-BB0B-DBBD-7593-5A278CB98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"/>
            <a:ext cx="3556000" cy="164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9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F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6679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 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PH" sz="1200" dirty="0">
                <a:solidFill>
                  <a:schemeClr val="bg1"/>
                </a:solidFill>
              </a:rPr>
              <a:t>MBC Media Group is the Philippines' most integrated media powerhouse — a broadcasting institution founded in 1939, operating 6 strategic business units (Radio, TV, Digital, Promos, Events, and Talents) to deliver seamless campaigns on air, online, and on-ground.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17500" y="2857500"/>
            <a:ext cx="50800" cy="3429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9900" y="2857500"/>
            <a:ext cx="109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85+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4800" y="29337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Years on air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500" y="3390900"/>
            <a:ext cx="50800" cy="3429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900" y="3390900"/>
            <a:ext cx="109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4800" y="34671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Radio stations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500" y="3924300"/>
            <a:ext cx="50800" cy="3429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900" y="3924300"/>
            <a:ext cx="109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4800" y="40005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Integrated business units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502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10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INTEGRATED MEDIA PARTNER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1005840"/>
            <a:ext cx="5029200" cy="370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{{CLIENT_INTRO}}</a:t>
            </a:r>
            <a:endParaRPr lang="en-US" sz="10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B323C8-CACD-0E4D-A695-6D3B7F259D03}"/>
              </a:ext>
            </a:extLst>
          </p:cNvPr>
          <p:cNvSpPr/>
          <p:nvPr/>
        </p:nvSpPr>
        <p:spPr>
          <a:xfrm>
            <a:off x="317500" y="4457700"/>
            <a:ext cx="50800" cy="3429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C22D72-E212-994F-8880-D1FADA7A2C74}"/>
              </a:ext>
            </a:extLst>
          </p:cNvPr>
          <p:cNvSpPr txBox="1"/>
          <p:nvPr/>
        </p:nvSpPr>
        <p:spPr>
          <a:xfrm>
            <a:off x="469900" y="4457700"/>
            <a:ext cx="1092200" cy="342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Avenir"/>
              </a:rPr>
              <a:t>41.6m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F888F5-3047-7342-868B-8286DFC3CEC4}"/>
              </a:ext>
            </a:extLst>
          </p:cNvPr>
          <p:cNvSpPr txBox="1"/>
          <p:nvPr/>
        </p:nvSpPr>
        <p:spPr>
          <a:xfrm>
            <a:off x="1574800" y="4533900"/>
            <a:ext cx="17399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dirty="0">
                <a:solidFill>
                  <a:srgbClr val="CADCFC"/>
                </a:solidFill>
                <a:latin typeface="Avenir"/>
              </a:rPr>
              <a:t>Organic community across social media</a:t>
            </a:r>
          </a:p>
        </p:txBody>
      </p:sp>
    </p:spTree>
    <p:extLst>
      <p:ext uri="{BB962C8B-B14F-4D97-AF65-F5344CB8AC3E}">
        <p14:creationId xmlns:p14="http://schemas.microsoft.com/office/powerpoint/2010/main" val="93079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F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6679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 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PH" sz="1200" dirty="0">
                <a:solidFill>
                  <a:schemeClr val="bg1"/>
                </a:solidFill>
              </a:rPr>
              <a:t>MBC Media Group is the Philippines' most integrated media powerhouse — a broadcasting institution founded in 1939, operating 6 strategic business units (Radio, TV, Digital, Promos, Events, and Talents) to deliver seamless campaigns on air, online, and on-ground.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17500" y="2857500"/>
            <a:ext cx="50800" cy="3429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9900" y="2857500"/>
            <a:ext cx="109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85+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4800" y="29337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Years on air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500" y="3390900"/>
            <a:ext cx="50800" cy="3429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900" y="3390900"/>
            <a:ext cx="109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4800" y="34671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Radio stations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500" y="3924300"/>
            <a:ext cx="50800" cy="34290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900" y="3924300"/>
            <a:ext cx="109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4800" y="40005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Integrated business units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508000"/>
            <a:ext cx="5029200" cy="420370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A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94760" y="508000"/>
            <a:ext cx="64008" cy="4203700"/>
          </a:xfrm>
          <a:prstGeom prst="rect">
            <a:avLst/>
          </a:prstGeom>
          <a:solidFill>
            <a:srgbClr val="E8A0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77640" y="63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MBC for {{CLIENT_INDUSTRY}}?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1016000"/>
            <a:ext cx="4663440" cy="356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{{CLIENT_WHY}}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B323C8-CACD-0E4D-A695-6D3B7F259D03}"/>
              </a:ext>
            </a:extLst>
          </p:cNvPr>
          <p:cNvSpPr/>
          <p:nvPr/>
        </p:nvSpPr>
        <p:spPr>
          <a:xfrm>
            <a:off x="317500" y="4457700"/>
            <a:ext cx="50800" cy="3429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C22D72-E212-994F-8880-D1FADA7A2C74}"/>
              </a:ext>
            </a:extLst>
          </p:cNvPr>
          <p:cNvSpPr txBox="1"/>
          <p:nvPr/>
        </p:nvSpPr>
        <p:spPr>
          <a:xfrm>
            <a:off x="469900" y="4457700"/>
            <a:ext cx="1092200" cy="342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Avenir"/>
              </a:rPr>
              <a:t>41.6m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F888F5-3047-7342-868B-8286DFC3CEC4}"/>
              </a:ext>
            </a:extLst>
          </p:cNvPr>
          <p:cNvSpPr txBox="1"/>
          <p:nvPr/>
        </p:nvSpPr>
        <p:spPr>
          <a:xfrm>
            <a:off x="1574800" y="4533900"/>
            <a:ext cx="17399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dirty="0">
                <a:solidFill>
                  <a:srgbClr val="CADCFC"/>
                </a:solidFill>
                <a:latin typeface="Avenir"/>
              </a:rPr>
              <a:t>Organic community across social media</a:t>
            </a:r>
          </a:p>
        </p:txBody>
      </p:sp>
    </p:spTree>
    <p:extLst>
      <p:ext uri="{BB962C8B-B14F-4D97-AF65-F5344CB8AC3E}">
        <p14:creationId xmlns:p14="http://schemas.microsoft.com/office/powerpoint/2010/main" val="36165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RECOMMENDED FOR {{CLIENT_NAME}}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1188719"/>
            <a:ext cx="8305800" cy="383298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9100" y="1188720"/>
            <a:ext cx="83058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8800" y="1371600"/>
            <a:ext cx="797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{{SBU_1_NAME}}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1879600"/>
            <a:ext cx="7975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{{SBU_1_DESC}}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11199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RECOMMENDED FOR {{CLIENT_NAME}}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9100" y="1188720"/>
            <a:ext cx="8305800" cy="3832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9100" y="1188720"/>
            <a:ext cx="83058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8800" y="1371600"/>
            <a:ext cx="797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{{SBU_2_NAME}}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8800" y="1879600"/>
            <a:ext cx="7975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{{SBU_2_DESC}}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420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RECOMMENDED FOR {{CLIENT_NAME}}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9100" y="1188720"/>
            <a:ext cx="8305800" cy="38329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9100" y="1188720"/>
            <a:ext cx="83058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8800" y="1371600"/>
            <a:ext cx="797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{{SBU_3_NAME}}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8800" y="1879600"/>
            <a:ext cx="7975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{{SBU_3_DESC}}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6687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0C31EDE-89C3-E94D-8172-DBFC55FB9F16}"/>
              </a:ext>
            </a:extLst>
          </p:cNvPr>
          <p:cNvSpPr/>
          <p:nvPr/>
        </p:nvSpPr>
        <p:spPr>
          <a:xfrm>
            <a:off x="5016500" y="406400"/>
            <a:ext cx="3721100" cy="4419600"/>
          </a:xfrm>
          <a:prstGeom prst="roundRect">
            <a:avLst/>
          </a:prstGeom>
          <a:solidFill>
            <a:srgbClr val="0B1F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444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SAMPLE CAMPAIGN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444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4B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{{CAMPAIGN_TITLE}}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74800"/>
            <a:ext cx="4445000" cy="1656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{{CAMPAIGN_DESC}}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34000" y="660400"/>
            <a:ext cx="314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D4A84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WHAT'S INCLUDED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34000" y="990600"/>
            <a:ext cx="31496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{{DELIVERABLE_1}}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{{DELIVERABLE_2}}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{{DELIVERABLE_3}}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2625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6400" y="508000"/>
            <a:ext cx="831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02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PLATFORM MIX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6400" y="889000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{{PLATFORM_1}}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400" y="1244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A02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{{PCT_1}}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5000" y="889000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{{PLATFORM_2}}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75000" y="1244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A02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{{PCT_2}}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0" y="889000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{{PLATFORM_3}}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244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A02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{{PCT_3}}</a:t>
            </a:r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5C1675-6D9A-EB4D-8408-5923250EAEAD}"/>
              </a:ext>
            </a:extLst>
          </p:cNvPr>
          <p:cNvSpPr txBox="1"/>
          <p:nvPr/>
        </p:nvSpPr>
        <p:spPr>
          <a:xfrm>
            <a:off x="406400" y="1714499"/>
            <a:ext cx="2540000" cy="310775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dirty="0">
                <a:solidFill>
                  <a:srgbClr val="CCCCCC"/>
                </a:solidFill>
                <a:latin typeface="Avenir"/>
              </a:rPr>
              <a:t>{{PLATFORM_1_DESC}}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A8F1F-E517-AB4D-901C-ECCACA59A95E}"/>
              </a:ext>
            </a:extLst>
          </p:cNvPr>
          <p:cNvSpPr txBox="1"/>
          <p:nvPr/>
        </p:nvSpPr>
        <p:spPr>
          <a:xfrm>
            <a:off x="3175000" y="1714500"/>
            <a:ext cx="2540000" cy="310775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dirty="0">
                <a:solidFill>
                  <a:srgbClr val="CCCCCC"/>
                </a:solidFill>
                <a:latin typeface="Avenir"/>
              </a:rPr>
              <a:t>{{PLATFORM_2_DESC}}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875415-EC62-CB4F-A058-91A9C6A389F1}"/>
              </a:ext>
            </a:extLst>
          </p:cNvPr>
          <p:cNvSpPr txBox="1"/>
          <p:nvPr/>
        </p:nvSpPr>
        <p:spPr>
          <a:xfrm>
            <a:off x="5943600" y="1714500"/>
            <a:ext cx="2540000" cy="310775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 dirty="0">
                <a:solidFill>
                  <a:srgbClr val="CCCCCC"/>
                </a:solidFill>
                <a:latin typeface="Avenir"/>
              </a:rPr>
              <a:t>{{PLATFORM_3_DESC}}</a:t>
            </a:r>
          </a:p>
        </p:txBody>
      </p:sp>
      <p:cxnSp>
        <p:nvCxnSpPr>
          <p:cNvPr id="50" name="Divider 1"/>
          <p:cNvCxnSpPr/>
          <p:nvPr/>
        </p:nvCxnSpPr>
        <p:spPr>
          <a:xfrm>
            <a:off x="3060700" y="889000"/>
            <a:ext cx="0" cy="3810000"/>
          </a:xfrm>
          <a:prstGeom prst="line">
            <a:avLst/>
          </a:prstGeom>
          <a:ln w="6350">
            <a:solidFill>
              <a:srgbClr val="3D3D5C"/>
            </a:solidFill>
          </a:ln>
        </p:spPr>
      </p:cxnSp>
      <p:cxnSp>
        <p:nvCxnSpPr>
          <p:cNvPr id="51" name="Divider 2"/>
          <p:cNvCxnSpPr/>
          <p:nvPr/>
        </p:nvCxnSpPr>
        <p:spPr>
          <a:xfrm>
            <a:off x="5829300" y="889000"/>
            <a:ext cx="0" cy="3810000"/>
          </a:xfrm>
          <a:prstGeom prst="line">
            <a:avLst/>
          </a:prstGeom>
          <a:ln w="6350">
            <a:solidFill>
              <a:srgbClr val="3D3D5C"/>
            </a:solidFill>
          </a:ln>
        </p:spPr>
      </p:cxnSp>
    </p:spTree>
    <p:extLst>
      <p:ext uri="{BB962C8B-B14F-4D97-AF65-F5344CB8AC3E}">
        <p14:creationId xmlns:p14="http://schemas.microsoft.com/office/powerpoint/2010/main" val="369347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1E3F25D-E817-FB99-0FC4-FEECC8553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5872" y="3626719"/>
            <a:ext cx="2681438" cy="2681438"/>
          </a:xfrm>
          <a:prstGeom prst="rect">
            <a:avLst/>
          </a:prstGeom>
        </p:spPr>
      </p:pic>
      <p:sp>
        <p:nvSpPr>
          <p:cNvPr id="20" name="Text 18"/>
          <p:cNvSpPr/>
          <p:nvPr/>
        </p:nvSpPr>
        <p:spPr>
          <a:xfrm>
            <a:off x="914400" y="508000"/>
            <a:ext cx="7315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LET'S BUILD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SOMETHING TOGETHER.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2540000" y="2311400"/>
            <a:ext cx="40640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24765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{{CTA_LINE}}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40000" y="3048000"/>
            <a:ext cx="4064000" cy="1270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40000" y="3048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{{CONTACT_NAME}}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{{CONTACT_TITLE}}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{{CONTACT_EMAIL}}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mbcmediagroup.com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1552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273131338]">
  <a:themeElements>
    <a:clrScheme name="Office">
      <a:dk1>
        <a:srgbClr val="1A1A2E"/>
      </a:dk1>
      <a:lt1>
        <a:srgbClr val="FFFFFF"/>
      </a:lt1>
      <a:dk2>
        <a:srgbClr val="3D3D5C"/>
      </a:dk2>
      <a:lt2>
        <a:srgbClr val="F5F5F7"/>
      </a:lt2>
      <a:accent1>
        <a:srgbClr val="0B1F4B"/>
      </a:accent1>
      <a:accent2>
        <a:srgbClr val="D4A843"/>
      </a:accent2>
      <a:accent3>
        <a:srgbClr val="E8E8EC"/>
      </a:accent3>
      <a:accent4>
        <a:srgbClr val="C8102E"/>
      </a:accent4>
      <a:accent5>
        <a:srgbClr val="5A7DA8"/>
      </a:accent5>
      <a:accent6>
        <a:srgbClr val="2D6A4F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578878-7D42-9243-8434-526C6611801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0fdb50f-5e32-43f7-950d-fff3a4d8b7f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360</Words>
  <Application>Microsoft Macintosh PowerPoint</Application>
  <PresentationFormat>On-screen Show (16:9)</PresentationFormat>
  <Paragraphs>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</vt:lpstr>
      <vt:lpstr>Source Sans Pro</vt:lpstr>
      <vt:lpstr>Office Theme [1777273131338]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MBC Media Group — Master Media Kit</dc:title>
  <dc:subject>PptxGenJS Presentation</dc:subject>
  <dc:creator>PptxGenJS</dc:creator>
  <cp:lastModifiedBy>Reese Tirona</cp:lastModifiedBy>
  <cp:revision>8</cp:revision>
  <dcterms:created xsi:type="dcterms:W3CDTF">2026-04-22T06:58:29Z</dcterms:created>
  <dcterms:modified xsi:type="dcterms:W3CDTF">2026-04-27T07:35:49Z</dcterms:modified>
</cp:coreProperties>
</file>
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7"/>
  </p:notesMasterIdLst>
  <p:sldIdLst>
    <p:sldId id="269" r:id="rId2"/>
    <p:sldId id="263" r:id="rId3"/>
    <p:sldId id="264" r:id="rId4"/>
    <p:sldId id="265" r:id="rId5"/>
    <p:sldId id="266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243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5143500"/>
          </a:xfrm>
          <a:prstGeom prst="rect">
            <a:avLst/>
          </a:prstGeom>
          <a:solidFill>
            <a:srgbClr val="001A5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8000" y="2184400"/>
            <a:ext cx="3302000" cy="22860"/>
          </a:xfrm>
          <a:prstGeom prst="rect">
            <a:avLst/>
          </a:prstGeom>
          <a:solidFill>
            <a:srgbClr val="001A5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8000" y="2336800"/>
            <a:ext cx="635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1A5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{{TAGLINE}}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8000" y="38735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1A5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Prepared for: {{CLIENT_NAME}}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8000" y="46355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1A5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mbcmediagroup.com</a:t>
            </a: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42659-BB0B-DBBD-7593-5A278CB98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"/>
            <a:ext cx="3556000" cy="1647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69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3474720" y="0"/>
            <a:ext cx="54864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136679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WHO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WE 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PH" sz="1200" dirty="0">
                <a:solidFill>
                  <a:schemeClr val="bg1"/>
                </a:solidFill>
              </a:rPr>
              <a:t>MBC Media Group is the Philippines' most integrated media powerhouse — a broadcasting institution founded in 1939, operating 6 strategic business units (Radio, TV, Digital, Promos, Events, and Talents) to deliver seamless campaigns on air, online, and on-ground.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17500" y="28575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9900" y="28575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85+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4800" y="29337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Years on air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500" y="33909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9900" y="33909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200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74800" y="34671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Radio stations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7500" y="3924300"/>
            <a:ext cx="50800" cy="342900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9900" y="3924300"/>
            <a:ext cx="1092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4800" y="4000500"/>
            <a:ext cx="1739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Integrated business units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94760" y="502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810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YOUR INTEGRATED MEDIA PARTNER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4760" y="10058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{{CLIENT_INTRO}}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794760" y="3200400"/>
            <a:ext cx="5029200" cy="150876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AF0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94760" y="3200400"/>
            <a:ext cx="64008" cy="1508760"/>
          </a:xfrm>
          <a:prstGeom prst="rect">
            <a:avLst/>
          </a:prstGeom>
          <a:solidFill>
            <a:srgbClr val="E8A02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977640" y="3310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Why MBC for {{CLIENT_INDUSTRY}}?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77640" y="3657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{{CLIENT_WHY}}</a:t>
            </a:r>
            <a:endParaRPr lang="en-US" sz="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B323C8-CACD-0E4D-A695-6D3B7F259D03}"/>
              </a:ext>
            </a:extLst>
          </p:cNvPr>
          <p:cNvSpPr/>
          <p:nvPr/>
        </p:nvSpPr>
        <p:spPr>
          <a:xfrm>
            <a:off x="317500" y="4457700"/>
            <a:ext cx="50800" cy="342900"/>
          </a:xfrm>
          <a:prstGeom prst="rect">
            <a:avLst/>
          </a:prstGeom>
          <a:solidFill>
            <a:srgbClr val="C810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C22D72-E212-994F-8880-D1FADA7A2C74}"/>
              </a:ext>
            </a:extLst>
          </p:cNvPr>
          <p:cNvSpPr txBox="1"/>
          <p:nvPr/>
        </p:nvSpPr>
        <p:spPr>
          <a:xfrm>
            <a:off x="469900" y="4457700"/>
            <a:ext cx="1092200" cy="3429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  <a:latin typeface="Avenir"/>
              </a:rPr>
              <a:t>41.6m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F888F5-3047-7342-868B-8286DFC3CEC4}"/>
              </a:ext>
            </a:extLst>
          </p:cNvPr>
          <p:cNvSpPr txBox="1"/>
          <p:nvPr/>
        </p:nvSpPr>
        <p:spPr>
          <a:xfrm>
            <a:off x="1574800" y="4533900"/>
            <a:ext cx="17399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dirty="0">
                <a:solidFill>
                  <a:srgbClr val="CADCFC"/>
                </a:solidFill>
                <a:latin typeface="Avenir"/>
              </a:rPr>
              <a:t>Organic community across social media</a:t>
            </a:r>
          </a:p>
        </p:txBody>
      </p:sp>
    </p:spTree>
    <p:extLst>
      <p:ext uri="{BB962C8B-B14F-4D97-AF65-F5344CB8AC3E}">
        <p14:creationId xmlns:p14="http://schemas.microsoft.com/office/powerpoint/2010/main" val="930793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RECOMMENDED FOR {{CLIENT_NAME}}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9100" y="1188719"/>
            <a:ext cx="2590800" cy="383298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0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9100" y="1188720"/>
            <a:ext cx="2590800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4200" y="1371600"/>
            <a:ext cx="502920" cy="502920"/>
          </a:xfrm>
          <a:prstGeom prst="ellipse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4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8800" y="2011680"/>
            <a:ext cx="226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{{SBU_1_NAME}}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58800" y="2487167"/>
            <a:ext cx="2260600" cy="2452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{{SBU_1_DESC}}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76600" y="1188720"/>
            <a:ext cx="2590800" cy="3832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0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76600" y="1188720"/>
            <a:ext cx="2590800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441700" y="1371600"/>
            <a:ext cx="502920" cy="502920"/>
          </a:xfrm>
          <a:prstGeom prst="ellipse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417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16300" y="2011680"/>
            <a:ext cx="226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{{SBU_2_NAME}}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16300" y="2487168"/>
            <a:ext cx="2260600" cy="245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{{SBU_2_DESC}}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34100" y="1188720"/>
            <a:ext cx="2590800" cy="3832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0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34100" y="1188720"/>
            <a:ext cx="2590800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299200" y="1371600"/>
            <a:ext cx="502920" cy="502920"/>
          </a:xfrm>
          <a:prstGeom prst="ellipse">
            <a:avLst/>
          </a:prstGeom>
          <a:solidFill>
            <a:srgbClr val="0B1F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299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🎪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73800" y="2011680"/>
            <a:ext cx="226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{{SBU_3_NAME}}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73800" y="2487168"/>
            <a:ext cx="2260600" cy="2452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{{SBU_3_DESC}}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11199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303520" y="0"/>
            <a:ext cx="54864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810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SAMPLE CAMPAIGN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4B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{{CAMPAIGN_TITLE}}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1394085"/>
            <a:ext cx="4572000" cy="2029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{{CAMPAIGN_DESC}}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3429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7A809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WHAT'S INCLUDED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1480" y="3749039"/>
            <a:ext cx="4572000" cy="1302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{{DELIVERABLE_1}}</a:t>
            </a:r>
            <a:endParaRPr lang="en-US" sz="8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{{DELIVERABLE_2}}</a:t>
            </a:r>
            <a:endParaRPr lang="en-US" sz="8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800" dirty="0">
                <a:solidFill>
                  <a:srgbClr val="1A1A2E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{{DELIVERABLE_3}}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577840" y="508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8A02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PLATFORM MIX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577840" y="9525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{{PLATFORM_1}}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188720"/>
            <a:ext cx="3017520" cy="84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A02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{{PCT_1}}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577840" y="203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{{PLATFORM_2}}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577840" y="2306320"/>
            <a:ext cx="301752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A02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{{PCT_2}}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577840" y="3429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{{PLATFORM_3}}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77840" y="3708400"/>
            <a:ext cx="301752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8A02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{{PCT_3}}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57097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1E3F25D-E817-FB99-0FC4-FEECC8553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5872" y="3626719"/>
            <a:ext cx="2681438" cy="2681438"/>
          </a:xfrm>
          <a:prstGeom prst="rect">
            <a:avLst/>
          </a:prstGeom>
        </p:spPr>
      </p:pic>
      <p:sp>
        <p:nvSpPr>
          <p:cNvPr id="20" name="Text 18"/>
          <p:cNvSpPr/>
          <p:nvPr/>
        </p:nvSpPr>
        <p:spPr>
          <a:xfrm>
            <a:off x="914400" y="508000"/>
            <a:ext cx="73152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LET'S BUILD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SOMETHING TOGETHER.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2540000" y="2311400"/>
            <a:ext cx="4064000" cy="36576"/>
          </a:xfrm>
          <a:prstGeom prst="rect">
            <a:avLst/>
          </a:prstGeom>
          <a:solidFill>
            <a:srgbClr val="C810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24765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{{CTA_LINE}}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540000" y="3048000"/>
            <a:ext cx="4064000" cy="12700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blurRad="1524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540000" y="3048000"/>
            <a:ext cx="4064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{{CONTACT_NAME}}</a:t>
            </a:r>
            <a:endParaRPr lang="en-US" sz="12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{{CONTACT_TITLE}}</a:t>
            </a:r>
            <a:endParaRPr lang="en-US" sz="12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{{CONTACT_EMAIL}}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0" y="45720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090"/>
                </a:solidFill>
                <a:latin typeface="Avenir" pitchFamily="34" charset="0"/>
                <a:ea typeface="Avenir" pitchFamily="34" charset="-122"/>
                <a:cs typeface="Avenir" pitchFamily="34" charset="-120"/>
              </a:rPr>
              <a:t>mbcmediagroup.com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015520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7012686762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1578878-7D42-9243-8434-526C6611801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00fdb50f-5e32-43f7-950d-fff3a4d8b7f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253</Words>
  <Application>Microsoft Macintosh PowerPoint</Application>
  <PresentationFormat>On-screen Show (16:9)</PresentationFormat>
  <Paragraphs>53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Avenir</vt:lpstr>
      <vt:lpstr>Office Theme [1777012686762]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MBC Media Group — Master Media Kit</dc:title>
  <dc:subject>PptxGenJS Presentation</dc:subject>
  <dc:creator>PptxGenJS</dc:creator>
  <cp:lastModifiedBy>Reese Tirona</cp:lastModifiedBy>
  <cp:revision>5</cp:revision>
  <dcterms:created xsi:type="dcterms:W3CDTF">2026-04-22T06:58:29Z</dcterms:created>
  <dcterms:modified xsi:type="dcterms:W3CDTF">2026-04-26T05:12:11Z</dcterms:modified>
</cp:coreProperties>
</file>